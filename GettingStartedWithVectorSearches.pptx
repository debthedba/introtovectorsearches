
<file path=[Content_Types].xml><?xml version="1.0" encoding="utf-8"?>
<Types xmlns="http://schemas.openxmlformats.org/package/2006/content-types">
  <Default Extension="1" ContentType="image/jpeg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4" r:id="rId3"/>
    <p:sldId id="257" r:id="rId4"/>
    <p:sldId id="258" r:id="rId5"/>
    <p:sldId id="260" r:id="rId6"/>
    <p:sldId id="259" r:id="rId7"/>
    <p:sldId id="261" r:id="rId8"/>
    <p:sldId id="266" r:id="rId9"/>
    <p:sldId id="263" r:id="rId10"/>
    <p:sldId id="265" r:id="rId11"/>
    <p:sldId id="267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8E0998C-2B82-46A6-803B-4E3D386EF6AF}">
          <p14:sldIdLst>
            <p14:sldId id="256"/>
            <p14:sldId id="264"/>
            <p14:sldId id="257"/>
            <p14:sldId id="258"/>
            <p14:sldId id="260"/>
            <p14:sldId id="259"/>
            <p14:sldId id="261"/>
            <p14:sldId id="266"/>
            <p14:sldId id="263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7" autoAdjust="0"/>
    <p:restoredTop sz="94660"/>
  </p:normalViewPr>
  <p:slideViewPr>
    <p:cSldViewPr snapToGrid="0">
      <p:cViewPr varScale="1">
        <p:scale>
          <a:sx n="55" d="100"/>
          <a:sy n="55" d="100"/>
        </p:scale>
        <p:origin x="639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68C24-93AF-4ABA-8926-FAE8182BCA47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60CDD1-B65C-457F-A11A-A750FD8BE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8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0CDD1-B65C-457F-A11A-A750FD8BE2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33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0CDD1-B65C-457F-A11A-A750FD8BE2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28840" y="2671851"/>
            <a:ext cx="60316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8033" y="4902016"/>
            <a:ext cx="12216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2;p2"/>
          <p:cNvSpPr/>
          <p:nvPr/>
        </p:nvSpPr>
        <p:spPr>
          <a:xfrm>
            <a:off x="1490600" y="4524000"/>
            <a:ext cx="756000" cy="75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4560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696400" y="3754564"/>
            <a:ext cx="74552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67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highlight>
                  <a:schemeClr val="accent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highlight>
                  <a:schemeClr val="accent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highlight>
                  <a:schemeClr val="accent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highlight>
                  <a:schemeClr val="accent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highlight>
                  <a:schemeClr val="accent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highlight>
                  <a:schemeClr val="accent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highlight>
                  <a:schemeClr val="accent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  <a:highlight>
                  <a:schemeClr val="accent1"/>
                </a:highlight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5" name="Google Shape;15;p3"/>
          <p:cNvCxnSpPr/>
          <p:nvPr/>
        </p:nvCxnSpPr>
        <p:spPr>
          <a:xfrm>
            <a:off x="-8033" y="3429016"/>
            <a:ext cx="2646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6;p3"/>
          <p:cNvSpPr/>
          <p:nvPr/>
        </p:nvSpPr>
        <p:spPr>
          <a:xfrm>
            <a:off x="1490600" y="3051000"/>
            <a:ext cx="756000" cy="75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2696300" y="2258031"/>
            <a:ext cx="50504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7865300" y="3429000"/>
            <a:ext cx="4334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CA5E7AA-E05F-4622-BF8C-32DDF3229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2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2806733" y="2984000"/>
            <a:ext cx="6578400" cy="109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Lora"/>
              <a:buChar char="◉"/>
              <a:defRPr sz="3200" i="1">
                <a:latin typeface="Lora"/>
                <a:ea typeface="Lora"/>
                <a:cs typeface="Lora"/>
                <a:sym typeface="Lora"/>
              </a:defRPr>
            </a:lvl1pPr>
            <a:lvl2pPr marL="1219170" lvl="1" indent="-474121" algn="ctr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○"/>
              <a:defRPr i="1">
                <a:latin typeface="Lora"/>
                <a:ea typeface="Lora"/>
                <a:cs typeface="Lora"/>
                <a:sym typeface="Lora"/>
              </a:defRPr>
            </a:lvl2pPr>
            <a:lvl3pPr marL="1828754" lvl="2" indent="-474121" algn="ctr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■"/>
              <a:defRPr i="1">
                <a:latin typeface="Lora"/>
                <a:ea typeface="Lora"/>
                <a:cs typeface="Lora"/>
                <a:sym typeface="Lora"/>
              </a:defRPr>
            </a:lvl3pPr>
            <a:lvl4pPr marL="2438339" lvl="3" indent="-507987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sz="3200" i="1">
                <a:latin typeface="Lora"/>
                <a:ea typeface="Lora"/>
                <a:cs typeface="Lora"/>
                <a:sym typeface="Lora"/>
              </a:defRPr>
            </a:lvl4pPr>
            <a:lvl5pPr marL="3047924" lvl="4" indent="-507987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sz="3200" i="1">
                <a:latin typeface="Lora"/>
                <a:ea typeface="Lora"/>
                <a:cs typeface="Lora"/>
                <a:sym typeface="Lora"/>
              </a:defRPr>
            </a:lvl5pPr>
            <a:lvl6pPr marL="3657509" lvl="5" indent="-507987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sz="3200" i="1">
                <a:latin typeface="Lora"/>
                <a:ea typeface="Lora"/>
                <a:cs typeface="Lora"/>
                <a:sym typeface="Lora"/>
              </a:defRPr>
            </a:lvl6pPr>
            <a:lvl7pPr marL="4267093" lvl="6" indent="-507987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sz="3200" i="1">
                <a:latin typeface="Lora"/>
                <a:ea typeface="Lora"/>
                <a:cs typeface="Lora"/>
                <a:sym typeface="Lora"/>
              </a:defRPr>
            </a:lvl7pPr>
            <a:lvl8pPr marL="4876678" lvl="7" indent="-507987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sz="3200" i="1">
                <a:latin typeface="Lora"/>
                <a:ea typeface="Lora"/>
                <a:cs typeface="Lora"/>
                <a:sym typeface="Lora"/>
              </a:defRPr>
            </a:lvl8pPr>
            <a:lvl9pPr marL="5486263" lvl="8" indent="-507987" algn="ctr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sz="32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Google Shape;22;p4"/>
          <p:cNvCxnSpPr/>
          <p:nvPr/>
        </p:nvCxnSpPr>
        <p:spPr>
          <a:xfrm>
            <a:off x="6112100" y="4902000"/>
            <a:ext cx="0" cy="1974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4"/>
          <p:cNvSpPr/>
          <p:nvPr/>
        </p:nvSpPr>
        <p:spPr>
          <a:xfrm>
            <a:off x="5718000" y="4524000"/>
            <a:ext cx="756000" cy="75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4"/>
          <p:cNvSpPr txBox="1"/>
          <p:nvPr/>
        </p:nvSpPr>
        <p:spPr>
          <a:xfrm>
            <a:off x="4791200" y="4550203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latin typeface="Lora"/>
                <a:ea typeface="Lora"/>
                <a:cs typeface="Lora"/>
                <a:sym typeface="Lora"/>
              </a:rPr>
              <a:t>“</a:t>
            </a:r>
            <a:endParaRPr sz="48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5730200" y="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fld id="{ECA5E7AA-E05F-4622-BF8C-32DDF3229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43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841667" y="1194816"/>
            <a:ext cx="5171200" cy="5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1841667" y="2201433"/>
            <a:ext cx="3112000" cy="41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◉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5113216" y="2201433"/>
            <a:ext cx="3112000" cy="41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◉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8384764" y="2201433"/>
            <a:ext cx="3112000" cy="41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◉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6" name="Google Shape;46;p7"/>
          <p:cNvCxnSpPr/>
          <p:nvPr/>
        </p:nvCxnSpPr>
        <p:spPr>
          <a:xfrm>
            <a:off x="0" y="1508967"/>
            <a:ext cx="1834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7"/>
          <p:cNvSpPr/>
          <p:nvPr/>
        </p:nvSpPr>
        <p:spPr>
          <a:xfrm>
            <a:off x="1089967" y="1238356"/>
            <a:ext cx="541200" cy="541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8" name="Google Shape;48;p7"/>
          <p:cNvCxnSpPr/>
          <p:nvPr/>
        </p:nvCxnSpPr>
        <p:spPr>
          <a:xfrm>
            <a:off x="7020867" y="1508967"/>
            <a:ext cx="51712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CA5E7AA-E05F-4622-BF8C-32DDF3229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58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0"/>
          <p:cNvCxnSpPr/>
          <p:nvPr/>
        </p:nvCxnSpPr>
        <p:spPr>
          <a:xfrm>
            <a:off x="-8033" y="6018305"/>
            <a:ext cx="12216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Google Shape;63;p10"/>
          <p:cNvSpPr/>
          <p:nvPr/>
        </p:nvSpPr>
        <p:spPr>
          <a:xfrm>
            <a:off x="5724933" y="5647207"/>
            <a:ext cx="742000" cy="74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5730200" y="6389200"/>
            <a:ext cx="731600" cy="4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fld id="{ECA5E7AA-E05F-4622-BF8C-32DDF3229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8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CA5E7AA-E05F-4622-BF8C-32DDF3229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8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092D7-145A-4322-983E-04C245B46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28C59-05E5-E445-76D9-D60ACA0A0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5A81C-0116-7306-8198-15AEDD408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8658-4BBC-4DCF-8534-6575F3C33D5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34C81-DBAB-2729-6FF3-689DA4C2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5E227-42A1-A3D8-F127-D0A0D465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5E7AA-E05F-4622-BF8C-32DDF3229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06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1841667" y="2155293"/>
            <a:ext cx="9079600" cy="41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◉"/>
              <a:defRPr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○"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■"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attrocento Sans"/>
              <a:buChar char="●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841667" y="1195399"/>
            <a:ext cx="90796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sz="20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33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buNone/>
              <a:defRPr sz="1333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r">
              <a:buNone/>
              <a:defRPr sz="1333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r">
              <a:buNone/>
              <a:defRPr sz="1333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r">
              <a:buNone/>
              <a:defRPr sz="1333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r">
              <a:buNone/>
              <a:defRPr sz="1333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r">
              <a:buNone/>
              <a:defRPr sz="1333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r">
              <a:buNone/>
              <a:defRPr sz="1333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r">
              <a:buNone/>
              <a:defRPr sz="1333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fld id="{ECA5E7AA-E05F-4622-BF8C-32DDF3229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2491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9" r:id="rId5"/>
    <p:sldLayoutId id="2147483670" r:id="rId6"/>
    <p:sldLayoutId id="2147483671" r:id="rId7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debthedb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image" Target="../media/image1.jpg"/><Relationship Id="rId7" Type="http://schemas.openxmlformats.org/officeDocument/2006/relationships/hyperlink" Target="https://www.rawpixel.com/search/mathemati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1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://aviation.stackexchange.com/questions/35920/how-can-pilots-lacking-instruments-interpret-vectors-given-by-atc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blogs.microsoft.com/azure-sql/category/vectors/" TargetMode="External"/><Relationship Id="rId2" Type="http://schemas.openxmlformats.org/officeDocument/2006/relationships/hyperlink" Target="https://github.com/Azure-Samples/azure-sql-db-vector-search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evblogs.microsoft.com/azure-sql/efficiently-and-elegantly-modeling-embeddings-in-azure-sql-and-sql-server/" TargetMode="External"/><Relationship Id="rId5" Type="http://schemas.openxmlformats.org/officeDocument/2006/relationships/hyperlink" Target="https://devblogs.microsoft.com/azure-sql/storing-querying-and-keeping-embeddings-updated-options-and-best-practices/" TargetMode="External"/><Relationship Id="rId4" Type="http://schemas.openxmlformats.org/officeDocument/2006/relationships/hyperlink" Target="https://github.com/yorek/azure-sql-db-ai-samples-search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sqlserver2025" TargetMode="External"/><Relationship Id="rId2" Type="http://schemas.openxmlformats.org/officeDocument/2006/relationships/hyperlink" Target="https://aka.ms/sqlserver2025doc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ka.ms/getsqlserver2025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qlbek.wordpress.com/2025/05/19/ollama-quick-start/" TargetMode="External"/><Relationship Id="rId2" Type="http://schemas.openxmlformats.org/officeDocument/2006/relationships/hyperlink" Target="https://www.nocentino.com/posts/2025-05-19-ollama-sql-faststart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youtu.be/uAdnL87bv4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A42D6FB-61E6-3C0E-6155-D5F0A9941B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Deborah Melkin</a:t>
            </a:r>
          </a:p>
          <a:p>
            <a:r>
              <a:rPr lang="en-US" sz="2400" dirty="0"/>
              <a:t>DebtheDBA.wordpress.com</a:t>
            </a:r>
          </a:p>
          <a:p>
            <a:r>
              <a:rPr lang="en-US" sz="2000">
                <a:hlinkClick r:id="rId3"/>
              </a:rPr>
              <a:t>youtube.com/@debthedba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9C9AA7-891A-A720-7AD8-2E1734466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6300" y="2258031"/>
            <a:ext cx="8331364" cy="1546400"/>
          </a:xfrm>
        </p:spPr>
        <p:txBody>
          <a:bodyPr/>
          <a:lstStyle/>
          <a:p>
            <a:r>
              <a:rPr lang="en-US" dirty="0"/>
              <a:t>Getting Started with </a:t>
            </a:r>
            <a:br>
              <a:rPr lang="en-US" dirty="0"/>
            </a:br>
            <a:r>
              <a:rPr lang="en-US" dirty="0"/>
              <a:t>Vector Searches in </a:t>
            </a:r>
            <a:br>
              <a:rPr lang="en-US" dirty="0"/>
            </a:br>
            <a:r>
              <a:rPr lang="en-US" dirty="0"/>
              <a:t>SQL Server 2025</a:t>
            </a:r>
          </a:p>
        </p:txBody>
      </p:sp>
    </p:spTree>
    <p:extLst>
      <p:ext uri="{BB962C8B-B14F-4D97-AF65-F5344CB8AC3E}">
        <p14:creationId xmlns:p14="http://schemas.microsoft.com/office/powerpoint/2010/main" val="443184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F794D2-625A-2FC3-26EC-FFFD89093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7333" y="815412"/>
            <a:ext cx="4832785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BDE222-E33E-D241-A3B7-2C17C6437B5D}"/>
              </a:ext>
            </a:extLst>
          </p:cNvPr>
          <p:cNvSpPr txBox="1"/>
          <p:nvPr/>
        </p:nvSpPr>
        <p:spPr>
          <a:xfrm>
            <a:off x="0" y="6562963"/>
            <a:ext cx="4873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4" tooltip="http://aviation.stackexchange.com/questions/35920/how-can-pilots-lacking-instruments-interpret-vectors-given-by-atc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5" tooltip="https://creativecommons.org/licenses/by-sa/3.0/"/>
              </a:rPr>
              <a:t>CC BY-SA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9A9F22-61B1-3CC4-430F-6943B99F57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096000" y="815412"/>
            <a:ext cx="5334001" cy="3200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C59A81-082A-C647-20FB-B2174D0F57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01" y="3006725"/>
            <a:ext cx="38100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2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2121C54-A0FB-F67C-4333-E78F79156A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18ECA0-5971-6958-F255-371B0E9E2E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are Vectors?</a:t>
            </a:r>
          </a:p>
        </p:txBody>
      </p:sp>
    </p:spTree>
    <p:extLst>
      <p:ext uri="{BB962C8B-B14F-4D97-AF65-F5344CB8AC3E}">
        <p14:creationId xmlns:p14="http://schemas.microsoft.com/office/powerpoint/2010/main" val="1321539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r: 5 Points 4">
            <a:extLst>
              <a:ext uri="{FF2B5EF4-FFF2-40B4-BE49-F238E27FC236}">
                <a16:creationId xmlns:a16="http://schemas.microsoft.com/office/drawing/2014/main" id="{7C989F45-F73B-A97C-04C8-A37014C9ED3F}"/>
              </a:ext>
            </a:extLst>
          </p:cNvPr>
          <p:cNvSpPr/>
          <p:nvPr/>
        </p:nvSpPr>
        <p:spPr>
          <a:xfrm>
            <a:off x="5725767" y="2585557"/>
            <a:ext cx="740466" cy="621196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5CB36-1B8F-29E9-E3E8-3A506ECD2E8B}"/>
              </a:ext>
            </a:extLst>
          </p:cNvPr>
          <p:cNvSpPr txBox="1"/>
          <p:nvPr/>
        </p:nvSpPr>
        <p:spPr>
          <a:xfrm>
            <a:off x="6760266" y="2718504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I’m a green star icon.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88EB8-D296-D2B0-1E63-9CCBA2E066E4}"/>
              </a:ext>
            </a:extLst>
          </p:cNvPr>
          <p:cNvSpPr txBox="1"/>
          <p:nvPr/>
        </p:nvSpPr>
        <p:spPr>
          <a:xfrm>
            <a:off x="6863002" y="2711489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1234567.25496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FE79DF-077E-2D55-ECC5-D9387B53139F}"/>
              </a:ext>
            </a:extLst>
          </p:cNvPr>
          <p:cNvSpPr txBox="1"/>
          <p:nvPr/>
        </p:nvSpPr>
        <p:spPr>
          <a:xfrm>
            <a:off x="6863002" y="3155034"/>
            <a:ext cx="3021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Ink Free" panose="03080402000500000000" pitchFamily="66" charset="0"/>
              </a:rPr>
              <a:t>This is the vector embedding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765FE1-209A-6919-56F8-05D2468BCADB}"/>
              </a:ext>
            </a:extLst>
          </p:cNvPr>
          <p:cNvSpPr txBox="1"/>
          <p:nvPr/>
        </p:nvSpPr>
        <p:spPr>
          <a:xfrm>
            <a:off x="531446" y="742462"/>
            <a:ext cx="3220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LLMs</a:t>
            </a:r>
            <a:r>
              <a:rPr lang="en-US" sz="2400" dirty="0"/>
              <a:t>	= type of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BEF27-5E90-1D6B-7AFF-C5141E9D721D}"/>
              </a:ext>
            </a:extLst>
          </p:cNvPr>
          <p:cNvSpPr txBox="1"/>
          <p:nvPr/>
        </p:nvSpPr>
        <p:spPr>
          <a:xfrm>
            <a:off x="531446" y="1271325"/>
            <a:ext cx="63722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Vector/Vector Embedding</a:t>
            </a:r>
          </a:p>
          <a:p>
            <a:r>
              <a:rPr lang="en-US" sz="2400" dirty="0"/>
              <a:t>	= numeric representation of something</a:t>
            </a:r>
          </a:p>
          <a:p>
            <a:r>
              <a:rPr lang="en-US" sz="2400" dirty="0"/>
              <a:t>	= a location in dimensional space</a:t>
            </a:r>
          </a:p>
        </p:txBody>
      </p:sp>
    </p:spTree>
    <p:extLst>
      <p:ext uri="{BB962C8B-B14F-4D97-AF65-F5344CB8AC3E}">
        <p14:creationId xmlns:p14="http://schemas.microsoft.com/office/powerpoint/2010/main" val="41115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7" grpId="0"/>
      <p:bldP spid="31" grpId="0"/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B5A61-68C9-2FB7-2AA9-1AD43CD72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4567E6C-4A2B-16C7-6A92-C850E1DA22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E668F6-922F-0C7E-E443-B2CC109A1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does Vector Search work?</a:t>
            </a:r>
          </a:p>
        </p:txBody>
      </p:sp>
    </p:spTree>
    <p:extLst>
      <p:ext uri="{BB962C8B-B14F-4D97-AF65-F5344CB8AC3E}">
        <p14:creationId xmlns:p14="http://schemas.microsoft.com/office/powerpoint/2010/main" val="3044148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A06F6-8095-E561-7961-EDCD216A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r: 5 Points 4">
            <a:extLst>
              <a:ext uri="{FF2B5EF4-FFF2-40B4-BE49-F238E27FC236}">
                <a16:creationId xmlns:a16="http://schemas.microsoft.com/office/drawing/2014/main" id="{324875B0-7A52-54A5-3FCF-1B8A6A949566}"/>
              </a:ext>
            </a:extLst>
          </p:cNvPr>
          <p:cNvSpPr/>
          <p:nvPr/>
        </p:nvSpPr>
        <p:spPr>
          <a:xfrm>
            <a:off x="5893904" y="2595361"/>
            <a:ext cx="740466" cy="621196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11C67-DE05-AEAC-0F99-8024C4E28FC7}"/>
              </a:ext>
            </a:extLst>
          </p:cNvPr>
          <p:cNvSpPr txBox="1"/>
          <p:nvPr/>
        </p:nvSpPr>
        <p:spPr>
          <a:xfrm>
            <a:off x="6634370" y="2697910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1234567.25496</a:t>
            </a:r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2F50866A-4822-5D12-19A5-E34972D445BD}"/>
              </a:ext>
            </a:extLst>
          </p:cNvPr>
          <p:cNvSpPr/>
          <p:nvPr/>
        </p:nvSpPr>
        <p:spPr>
          <a:xfrm>
            <a:off x="6096000" y="1539952"/>
            <a:ext cx="740466" cy="621196"/>
          </a:xfrm>
          <a:prstGeom prst="star5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92B788DC-FEDA-56CD-4EE2-C72654086B86}"/>
              </a:ext>
            </a:extLst>
          </p:cNvPr>
          <p:cNvSpPr/>
          <p:nvPr/>
        </p:nvSpPr>
        <p:spPr>
          <a:xfrm>
            <a:off x="6591299" y="3463788"/>
            <a:ext cx="740466" cy="621196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F7C21394-D389-8EB4-8067-357FECC0EC5E}"/>
              </a:ext>
            </a:extLst>
          </p:cNvPr>
          <p:cNvSpPr/>
          <p:nvPr/>
        </p:nvSpPr>
        <p:spPr>
          <a:xfrm>
            <a:off x="4780721" y="3403744"/>
            <a:ext cx="740466" cy="62119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7BC4BA1C-A528-DDC6-B695-CAE75E6EC4FB}"/>
              </a:ext>
            </a:extLst>
          </p:cNvPr>
          <p:cNvSpPr/>
          <p:nvPr/>
        </p:nvSpPr>
        <p:spPr>
          <a:xfrm>
            <a:off x="4176091" y="631136"/>
            <a:ext cx="616226" cy="541682"/>
          </a:xfrm>
          <a:prstGeom prst="smileyFac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miley Face 12">
            <a:extLst>
              <a:ext uri="{FF2B5EF4-FFF2-40B4-BE49-F238E27FC236}">
                <a16:creationId xmlns:a16="http://schemas.microsoft.com/office/drawing/2014/main" id="{9959586D-CAAD-1DEF-982C-9290386B81B5}"/>
              </a:ext>
            </a:extLst>
          </p:cNvPr>
          <p:cNvSpPr/>
          <p:nvPr/>
        </p:nvSpPr>
        <p:spPr>
          <a:xfrm>
            <a:off x="8214692" y="511865"/>
            <a:ext cx="616226" cy="541682"/>
          </a:xfrm>
          <a:prstGeom prst="smileyFac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miley Face 13">
            <a:extLst>
              <a:ext uri="{FF2B5EF4-FFF2-40B4-BE49-F238E27FC236}">
                <a16:creationId xmlns:a16="http://schemas.microsoft.com/office/drawing/2014/main" id="{5CBD9902-1281-7335-D5BF-51D287A07C1D}"/>
              </a:ext>
            </a:extLst>
          </p:cNvPr>
          <p:cNvSpPr/>
          <p:nvPr/>
        </p:nvSpPr>
        <p:spPr>
          <a:xfrm>
            <a:off x="3094383" y="2900989"/>
            <a:ext cx="616226" cy="541682"/>
          </a:xfrm>
          <a:prstGeom prst="smileyFac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eart 14">
            <a:extLst>
              <a:ext uri="{FF2B5EF4-FFF2-40B4-BE49-F238E27FC236}">
                <a16:creationId xmlns:a16="http://schemas.microsoft.com/office/drawing/2014/main" id="{0420B754-4BB1-7065-BAD6-6A20A5530AAD}"/>
              </a:ext>
            </a:extLst>
          </p:cNvPr>
          <p:cNvSpPr/>
          <p:nvPr/>
        </p:nvSpPr>
        <p:spPr>
          <a:xfrm>
            <a:off x="2816087" y="4333462"/>
            <a:ext cx="556591" cy="576469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eart 15">
            <a:extLst>
              <a:ext uri="{FF2B5EF4-FFF2-40B4-BE49-F238E27FC236}">
                <a16:creationId xmlns:a16="http://schemas.microsoft.com/office/drawing/2014/main" id="{21A90DB8-BECB-FAC1-A30E-B6242191D9BD}"/>
              </a:ext>
            </a:extLst>
          </p:cNvPr>
          <p:cNvSpPr/>
          <p:nvPr/>
        </p:nvSpPr>
        <p:spPr>
          <a:xfrm>
            <a:off x="10886661" y="1584679"/>
            <a:ext cx="556591" cy="576469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eart 16">
            <a:extLst>
              <a:ext uri="{FF2B5EF4-FFF2-40B4-BE49-F238E27FC236}">
                <a16:creationId xmlns:a16="http://schemas.microsoft.com/office/drawing/2014/main" id="{EDA36A68-14F7-F32E-0862-50AB661CA038}"/>
              </a:ext>
            </a:extLst>
          </p:cNvPr>
          <p:cNvSpPr/>
          <p:nvPr/>
        </p:nvSpPr>
        <p:spPr>
          <a:xfrm>
            <a:off x="8724900" y="3917266"/>
            <a:ext cx="556591" cy="576469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D3D6C7F-1BCF-A9ED-F04C-B4E54DC3146D}"/>
              </a:ext>
            </a:extLst>
          </p:cNvPr>
          <p:cNvSpPr/>
          <p:nvPr/>
        </p:nvSpPr>
        <p:spPr>
          <a:xfrm>
            <a:off x="4301987" y="844826"/>
            <a:ext cx="4362020" cy="441297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9BF4FA-F49A-75AA-DDEC-34CF38560B5B}"/>
              </a:ext>
            </a:extLst>
          </p:cNvPr>
          <p:cNvSpPr txBox="1"/>
          <p:nvPr/>
        </p:nvSpPr>
        <p:spPr>
          <a:xfrm>
            <a:off x="2563446" y="2283481"/>
            <a:ext cx="1396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3873948.2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8FFD9-C2DD-41B9-1A49-5A233C63E4F4}"/>
              </a:ext>
            </a:extLst>
          </p:cNvPr>
          <p:cNvSpPr txBox="1"/>
          <p:nvPr/>
        </p:nvSpPr>
        <p:spPr>
          <a:xfrm>
            <a:off x="2307187" y="5158107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343939.9879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522628-FF74-EB55-0D85-E1A7FE0E3AB3}"/>
              </a:ext>
            </a:extLst>
          </p:cNvPr>
          <p:cNvSpPr txBox="1"/>
          <p:nvPr/>
        </p:nvSpPr>
        <p:spPr>
          <a:xfrm>
            <a:off x="8842617" y="538681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0385739.2135879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941CFF-173F-67A5-19D3-7E5245D2C7B6}"/>
              </a:ext>
            </a:extLst>
          </p:cNvPr>
          <p:cNvSpPr txBox="1"/>
          <p:nvPr/>
        </p:nvSpPr>
        <p:spPr>
          <a:xfrm>
            <a:off x="10623782" y="233987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3483745.75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07ACCF-0255-933E-858C-FBF5FAC2C088}"/>
              </a:ext>
            </a:extLst>
          </p:cNvPr>
          <p:cNvSpPr txBox="1"/>
          <p:nvPr/>
        </p:nvSpPr>
        <p:spPr>
          <a:xfrm>
            <a:off x="9589028" y="4148796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3746593.8987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16ABCC-50CB-4D82-2670-3952074335DF}"/>
              </a:ext>
            </a:extLst>
          </p:cNvPr>
          <p:cNvSpPr txBox="1"/>
          <p:nvPr/>
        </p:nvSpPr>
        <p:spPr>
          <a:xfrm>
            <a:off x="4449480" y="2954897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1234577.21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8C1036-F35D-93A7-24BE-8638FE78957F}"/>
              </a:ext>
            </a:extLst>
          </p:cNvPr>
          <p:cNvSpPr txBox="1"/>
          <p:nvPr/>
        </p:nvSpPr>
        <p:spPr>
          <a:xfrm>
            <a:off x="5636518" y="1149771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1234566.5461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B7EC4C-8388-A06F-90A7-A6FDA14EDFF2}"/>
              </a:ext>
            </a:extLst>
          </p:cNvPr>
          <p:cNvSpPr txBox="1"/>
          <p:nvPr/>
        </p:nvSpPr>
        <p:spPr>
          <a:xfrm>
            <a:off x="6152098" y="4211388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1234560.21658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2C25DC-9F16-4565-25AA-8B19958A6670}"/>
              </a:ext>
            </a:extLst>
          </p:cNvPr>
          <p:cNvSpPr txBox="1"/>
          <p:nvPr/>
        </p:nvSpPr>
        <p:spPr>
          <a:xfrm>
            <a:off x="3760813" y="227318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2536748.2165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C06660-0590-423C-7FA2-BFA68788CE9F}"/>
              </a:ext>
            </a:extLst>
          </p:cNvPr>
          <p:cNvSpPr txBox="1"/>
          <p:nvPr/>
        </p:nvSpPr>
        <p:spPr>
          <a:xfrm>
            <a:off x="627538" y="6028480"/>
            <a:ext cx="4854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Reminder: These numbers are not really embedding numbers but examples only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FE3DB1-BD70-CA1C-5D4C-9BA2A559AE45}"/>
              </a:ext>
            </a:extLst>
          </p:cNvPr>
          <p:cNvSpPr txBox="1"/>
          <p:nvPr/>
        </p:nvSpPr>
        <p:spPr>
          <a:xfrm>
            <a:off x="211015" y="227318"/>
            <a:ext cx="305027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n-lt"/>
              </a:rPr>
              <a:t>PROMPT:</a:t>
            </a:r>
          </a:p>
          <a:p>
            <a:endParaRPr lang="en-US" sz="1000" b="1" dirty="0">
              <a:latin typeface="+mn-lt"/>
            </a:endParaRPr>
          </a:p>
          <a:p>
            <a:r>
              <a:rPr lang="en-US" sz="2400" b="1" dirty="0">
                <a:latin typeface="Ink Free" panose="03080402000500000000" pitchFamily="66" charset="0"/>
              </a:rPr>
              <a:t>Find me all icons that are similar to my green star…</a:t>
            </a:r>
          </a:p>
        </p:txBody>
      </p:sp>
    </p:spTree>
    <p:extLst>
      <p:ext uri="{BB962C8B-B14F-4D97-AF65-F5344CB8AC3E}">
        <p14:creationId xmlns:p14="http://schemas.microsoft.com/office/powerpoint/2010/main" val="87884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2E0F6-F521-0644-8E2D-3F61C027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09E6A77-BF86-A86D-7C7C-79D664A455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aka Demo 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A9D861-473B-B54C-7F86-B13D8ED73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6299" y="2258031"/>
            <a:ext cx="5642716" cy="1546400"/>
          </a:xfrm>
        </p:spPr>
        <p:txBody>
          <a:bodyPr/>
          <a:lstStyle/>
          <a:p>
            <a:r>
              <a:rPr lang="en-US" dirty="0"/>
              <a:t>Ok, show me some real examples of this…</a:t>
            </a:r>
          </a:p>
        </p:txBody>
      </p:sp>
    </p:spTree>
    <p:extLst>
      <p:ext uri="{BB962C8B-B14F-4D97-AF65-F5344CB8AC3E}">
        <p14:creationId xmlns:p14="http://schemas.microsoft.com/office/powerpoint/2010/main" val="187818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21701-8894-A954-3675-46E6A6B7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D054264-209F-6F87-2DF5-ED2CB1FEB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6AE7D1-90BF-5DA1-C620-EA9CFFCD2B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546521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58232B-C096-C48C-FF3D-ECE18D99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F39E7-D320-3D6A-BBB8-C96884D38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1666" y="2201433"/>
            <a:ext cx="9655097" cy="416320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https://github.com/Azure-Samples/azure-sql-db-vector-search</a:t>
            </a:r>
            <a:endParaRPr lang="en-US" dirty="0"/>
          </a:p>
          <a:p>
            <a:endParaRPr lang="en-US" sz="1000" dirty="0"/>
          </a:p>
          <a:p>
            <a:r>
              <a:rPr lang="en-US" dirty="0">
                <a:hlinkClick r:id="rId3"/>
              </a:rPr>
              <a:t>https://devblogs.microsoft.com/azure-sql/category/vectors/</a:t>
            </a:r>
            <a:endParaRPr lang="en-US" sz="1600" dirty="0"/>
          </a:p>
          <a:p>
            <a:endParaRPr lang="en-US" sz="1000" dirty="0">
              <a:hlinkClick r:id="rId4"/>
            </a:endParaRPr>
          </a:p>
          <a:p>
            <a:r>
              <a:rPr lang="en-US" dirty="0">
                <a:hlinkClick r:id="rId4"/>
              </a:rPr>
              <a:t>https://github.com/yorek/azure-sql-db-ai-samples-search</a:t>
            </a:r>
            <a:endParaRPr lang="en-US" sz="1600" dirty="0"/>
          </a:p>
          <a:p>
            <a:endParaRPr lang="en-US" sz="1000" dirty="0">
              <a:hlinkClick r:id="rId5"/>
            </a:endParaRPr>
          </a:p>
          <a:p>
            <a:r>
              <a:rPr lang="en-US" dirty="0">
                <a:hlinkClick r:id="rId5"/>
              </a:rPr>
              <a:t>https://devblogs.microsoft.com/azure-sql/storing-querying-and-keeping-embeddings-updated-options-and-best-practices/</a:t>
            </a:r>
            <a:endParaRPr lang="en-US" sz="1600" dirty="0"/>
          </a:p>
          <a:p>
            <a:endParaRPr lang="en-US" sz="1000" dirty="0">
              <a:hlinkClick r:id="rId6"/>
            </a:endParaRPr>
          </a:p>
          <a:p>
            <a:r>
              <a:rPr lang="en-US" dirty="0">
                <a:hlinkClick r:id="rId6"/>
              </a:rPr>
              <a:t>https://devblogs.microsoft.com/azure-sql/efficiently-and-elegantly-modeling-embeddings-in-azure-sql-and-sql-server/</a:t>
            </a:r>
            <a:endParaRPr lang="en-US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61575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DFECA8-DFC8-64B3-CCB6-66A034505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2FA2DE-18BF-2C40-0943-8FD2256E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20A8C6-D65D-847D-1B36-30456CBF0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1666" y="2201433"/>
            <a:ext cx="9655097" cy="4163200"/>
          </a:xfrm>
        </p:spPr>
        <p:txBody>
          <a:bodyPr/>
          <a:lstStyle/>
          <a:p>
            <a:r>
              <a:rPr lang="en-US" dirty="0"/>
              <a:t>What’s New in SQL Server 2025</a:t>
            </a:r>
          </a:p>
          <a:p>
            <a:pPr lvl="1"/>
            <a:r>
              <a:rPr lang="en-US" dirty="0">
                <a:hlinkClick r:id="rId2"/>
              </a:rPr>
              <a:t>https://aka.ms/sqlserver2025docs</a:t>
            </a:r>
            <a:endParaRPr lang="en-US" dirty="0"/>
          </a:p>
          <a:p>
            <a:endParaRPr lang="en-US" dirty="0"/>
          </a:p>
          <a:p>
            <a:r>
              <a:rPr lang="en-US" dirty="0"/>
              <a:t>SQL Server Launch Blog </a:t>
            </a:r>
          </a:p>
          <a:p>
            <a:pPr lvl="1"/>
            <a:r>
              <a:rPr lang="en-US" dirty="0">
                <a:hlinkClick r:id="rId3"/>
              </a:rPr>
              <a:t>https://aka.ms/sqlserver2025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Download SQL Server 2025 </a:t>
            </a:r>
          </a:p>
          <a:p>
            <a:pPr lvl="1"/>
            <a:r>
              <a:rPr lang="en-US" dirty="0">
                <a:hlinkClick r:id="rId4"/>
              </a:rPr>
              <a:t>https://aka.ms/getsqlserver2025</a:t>
            </a:r>
            <a:endParaRPr lang="en-US" dirty="0"/>
          </a:p>
          <a:p>
            <a:pPr lvl="1"/>
            <a:endParaRPr lang="en-US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75060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334F-520C-B864-2776-E74857F36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3A2851-5833-B659-2475-5858B9668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Resources -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871CB5-57A5-B639-9583-6411CC3F6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1666" y="2201433"/>
            <a:ext cx="9655097" cy="416320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https://www.nocentino.com/posts/2025-05-19-ollama-sql-faststart</a:t>
            </a:r>
            <a:endParaRPr lang="en-US" dirty="0"/>
          </a:p>
          <a:p>
            <a:endParaRPr lang="en-US" sz="1000" dirty="0"/>
          </a:p>
          <a:p>
            <a:r>
              <a:rPr lang="en-US" dirty="0">
                <a:hlinkClick r:id="rId3"/>
              </a:rPr>
              <a:t>https://sqlbek.wordpress.com/2025/05/19/ollama-quick-start/</a:t>
            </a:r>
            <a:endParaRPr lang="en-US" sz="1400" dirty="0"/>
          </a:p>
          <a:p>
            <a:endParaRPr lang="en-US" sz="1000" dirty="0"/>
          </a:p>
          <a:p>
            <a:r>
              <a:rPr lang="en-US" dirty="0">
                <a:hlinkClick r:id="rId4"/>
              </a:rPr>
              <a:t>Getting Started with Vector Searches (Video)</a:t>
            </a:r>
            <a:endParaRPr lang="en-US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4350068"/>
      </p:ext>
    </p:extLst>
  </p:cSld>
  <p:clrMapOvr>
    <a:masterClrMapping/>
  </p:clrMapOvr>
</p:sld>
</file>

<file path=ppt/theme/theme1.xml><?xml version="1.0" encoding="utf-8"?>
<a:theme xmlns:a="http://schemas.openxmlformats.org/drawingml/2006/main" name="Viola template">
  <a:themeElements>
    <a:clrScheme name="Custom 347">
      <a:dk1>
        <a:srgbClr val="000000"/>
      </a:dk1>
      <a:lt1>
        <a:srgbClr val="FFFFFF"/>
      </a:lt1>
      <a:dk2>
        <a:srgbClr val="8A8682"/>
      </a:dk2>
      <a:lt2>
        <a:srgbClr val="F0EEE9"/>
      </a:lt2>
      <a:accent1>
        <a:srgbClr val="FFCD00"/>
      </a:accent1>
      <a:accent2>
        <a:srgbClr val="F6921D"/>
      </a:accent2>
      <a:accent3>
        <a:srgbClr val="A7693A"/>
      </a:accent3>
      <a:accent4>
        <a:srgbClr val="D8D6D2"/>
      </a:accent4>
      <a:accent5>
        <a:srgbClr val="979593"/>
      </a:accent5>
      <a:accent6>
        <a:srgbClr val="6F6868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ola · SlidesCarnival.pptx" id="{2E47C640-D5AB-4F08-B6DB-33159FE9E9AB}" vid="{3D5CF0D6-5657-4315-A981-05D1A86DF9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Viola · SlidesCarnival</Template>
  <TotalTime>1179</TotalTime>
  <Words>257</Words>
  <Application>Microsoft Office PowerPoint</Application>
  <PresentationFormat>Widescreen</PresentationFormat>
  <Paragraphs>58</Paragraphs>
  <Slides>11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Ink Free</vt:lpstr>
      <vt:lpstr>Lora</vt:lpstr>
      <vt:lpstr>Quattrocento Sans</vt:lpstr>
      <vt:lpstr>Viola template</vt:lpstr>
      <vt:lpstr>Getting Started with  Vector Searches in  SQL Server 2025</vt:lpstr>
      <vt:lpstr>PowerPoint Presentation</vt:lpstr>
      <vt:lpstr>What are Vectors?</vt:lpstr>
      <vt:lpstr>PowerPoint Presentation</vt:lpstr>
      <vt:lpstr>How does Vector Search work?</vt:lpstr>
      <vt:lpstr>PowerPoint Presentation</vt:lpstr>
      <vt:lpstr>Ok, show me some real examples of this…</vt:lpstr>
      <vt:lpstr>Resources</vt:lpstr>
      <vt:lpstr>Resources</vt:lpstr>
      <vt:lpstr>Resources</vt:lpstr>
      <vt:lpstr>Resources - Community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Deborah Melkin</dc:creator>
  <cp:lastModifiedBy>Deborah Melkin</cp:lastModifiedBy>
  <cp:revision>61</cp:revision>
  <dcterms:created xsi:type="dcterms:W3CDTF">2024-09-16T23:34:35Z</dcterms:created>
  <dcterms:modified xsi:type="dcterms:W3CDTF">2026-08-07T19:53:30Z</dcterms:modified>
</cp:coreProperties>
</file>